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6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Comparative Scores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Ease‑of‑Use</c:v>
                </c:pt>
              </c:strCache>
            </c:strRef>
          </c:tx>
          <c:spPr>
            <a:solidFill>
              <a:srgbClr val="97B1DF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Qlib</c:v>
                </c:pt>
                <c:pt idx="1">
                  <c:v>FinRL</c:v>
                </c:pt>
                <c:pt idx="2">
                  <c:v>FinRobot</c:v>
                </c:pt>
                <c:pt idx="3">
                  <c:v>TradingAgents</c:v>
                </c:pt>
                <c:pt idx="4">
                  <c:v>Alpha‑Agent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4.5</c:v>
                </c:pt>
                <c:pt idx="2">
                  <c:v>3.5</c:v>
                </c:pt>
                <c:pt idx="3">
                  <c:v>3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FC-4140-A402-6DFEB01435C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Research Features</c:v>
                </c:pt>
              </c:strCache>
            </c:strRef>
          </c:tx>
          <c:spPr>
            <a:solidFill>
              <a:srgbClr val="A4B6B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Qlib</c:v>
                </c:pt>
                <c:pt idx="1">
                  <c:v>FinRL</c:v>
                </c:pt>
                <c:pt idx="2">
                  <c:v>FinRobot</c:v>
                </c:pt>
                <c:pt idx="3">
                  <c:v>TradingAgents</c:v>
                </c:pt>
                <c:pt idx="4">
                  <c:v>Alpha‑Agent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2.5</c:v>
                </c:pt>
                <c:pt idx="4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4FC-4140-A402-6DFEB01435C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Backtesting</c:v>
                </c:pt>
              </c:strCache>
            </c:strRef>
          </c:tx>
          <c:spPr>
            <a:solidFill>
              <a:srgbClr val="A4B6B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Qlib</c:v>
                </c:pt>
                <c:pt idx="1">
                  <c:v>FinRL</c:v>
                </c:pt>
                <c:pt idx="2">
                  <c:v>FinRobot</c:v>
                </c:pt>
                <c:pt idx="3">
                  <c:v>TradingAgents</c:v>
                </c:pt>
                <c:pt idx="4">
                  <c:v>Alpha‑Agent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</c:v>
                </c:pt>
                <c:pt idx="1">
                  <c:v>3.5</c:v>
                </c:pt>
                <c:pt idx="2">
                  <c:v>2</c:v>
                </c:pt>
                <c:pt idx="3">
                  <c:v>2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4FC-4140-A402-6DFEB01435C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AI Agents</c:v>
                </c:pt>
              </c:strCache>
            </c:strRef>
          </c:tx>
          <c:spPr>
            <a:solidFill>
              <a:srgbClr val="97B1DF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Qlib</c:v>
                </c:pt>
                <c:pt idx="1">
                  <c:v>FinRL</c:v>
                </c:pt>
                <c:pt idx="2">
                  <c:v>FinRobot</c:v>
                </c:pt>
                <c:pt idx="3">
                  <c:v>TradingAgents</c:v>
                </c:pt>
                <c:pt idx="4">
                  <c:v>Alpha‑Agent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4</c:v>
                </c:pt>
                <c:pt idx="1">
                  <c:v>3</c:v>
                </c:pt>
                <c:pt idx="2">
                  <c:v>4.5</c:v>
                </c:pt>
                <c:pt idx="3">
                  <c:v>4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4FC-4140-A402-6DFEB01435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Framework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Score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7940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&#12304;797180227934748&#8224;L72-L73&#12305;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11" Type="http://schemas.openxmlformats.org/officeDocument/2006/relationships/hyperlink" Target="https://github.com/AI4Finance-Foundation/FinRL/blob/master/README.md#L126-L143" TargetMode="External"/><Relationship Id="rId5" Type="http://schemas.openxmlformats.org/officeDocument/2006/relationships/image" Target="../media/image2.png"/><Relationship Id="rId10" Type="http://schemas.openxmlformats.org/officeDocument/2006/relationships/image" Target="../media/image9.svg"/><Relationship Id="rId4" Type="http://schemas.openxmlformats.org/officeDocument/2006/relationships/image" Target="../media/image5.sv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&#12304;797180227934748&#8224;L72-L73&#12305;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hyperlink" Target="&#12304;797180227934748&#8224;L5-L6&#12305;" TargetMode="External"/><Relationship Id="rId4" Type="http://schemas.openxmlformats.org/officeDocument/2006/relationships/hyperlink" Target="&#12304;797180227934748&#8224;L74-L79&#12305;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I4Finance-Foundation/FinRL/blob/master/README.md#L68-L81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AI4Finance-Foundation/FinRL/blob/master/README.md#L126-L143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I4Finance-Foundation/FinRobot/blob/master/README.md#L39-L44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AI4Finance-Foundation/FinRobot/blob/master/README.md#L62-L67" TargetMode="External"/><Relationship Id="rId4" Type="http://schemas.openxmlformats.org/officeDocument/2006/relationships/hyperlink" Target="https://github.com/AI4Finance-Foundation/FinRobot/blob/master/README.md#L51-L55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auricResearch/TradingAgents/blob/main/README.md#L50-L6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TauricResearch/TradingAgents/blob/main/README.md#L149-L170" TargetMode="External"/><Relationship Id="rId5" Type="http://schemas.openxmlformats.org/officeDocument/2006/relationships/hyperlink" Target="https://github.com/TauricResearch/TradingAgents/blob/main/README.md#L94-L125" TargetMode="External"/><Relationship Id="rId4" Type="http://schemas.openxmlformats.org/officeDocument/2006/relationships/hyperlink" Target="https://github.com/TauricResearch/TradingAgents/blob/main/README.md#L62-L89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raw.githubusercontent.com/LLMQuant/Alpha-Agent/main/README.md#:~:text=,bases%2C%20and%20robust%20backtesting%20infrastructure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raw.githubusercontent.com/LLMQuant/Alpha-Agent/main/README.md#:~:text=1.%20,wiki" TargetMode="External"/><Relationship Id="rId4" Type="http://schemas.openxmlformats.org/officeDocument/2006/relationships/hyperlink" Target="https://raw.githubusercontent.com/LLMQuant/Alpha-Agent/main/README.md#:~:text=AlphaAgent%20enables%3A%20,and%20decision%20support%20outputs%20for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raw.githubusercontent.com/LLMQuant/Alpha-Agent/main/README.md#:~:text=AlphaAgent%20enables%3A%20,and%20decision%20support%20outputs%20for" TargetMode="External"/><Relationship Id="rId3" Type="http://schemas.openxmlformats.org/officeDocument/2006/relationships/chart" Target="../charts/chart1.xml"/><Relationship Id="rId7" Type="http://schemas.openxmlformats.org/officeDocument/2006/relationships/hyperlink" Target="https://github.com/TauricResearch/TradingAgents/blob/main/README.md#L50-L66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AI4Finance-Foundation/FinRobot/blob/master/README.md#L39-L44" TargetMode="External"/><Relationship Id="rId5" Type="http://schemas.openxmlformats.org/officeDocument/2006/relationships/hyperlink" Target="https://github.com/AI4Finance-Foundation/FinRL/blob/master/README.md#L126-L143" TargetMode="External"/><Relationship Id="rId4" Type="http://schemas.openxmlformats.org/officeDocument/2006/relationships/hyperlink" Target="&#12304;797180227934748&#8224;L72-L73&#12305;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&#12304;797180227934748&#8224;L72-L73&#12305;" TargetMode="External"/><Relationship Id="rId7" Type="http://schemas.openxmlformats.org/officeDocument/2006/relationships/hyperlink" Target="https://raw.githubusercontent.com/LLMQuant/Alpha-Agent/main/README.md#:~:text=AlphaAgent%20enables%3A%20,and%20decision%20support%20outputs%20for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TauricResearch/TradingAgents/blob/main/README.md#L50-L66" TargetMode="External"/><Relationship Id="rId5" Type="http://schemas.openxmlformats.org/officeDocument/2006/relationships/hyperlink" Target="https://github.com/AI4Finance-Foundation/FinRobot/blob/master/README.md#L39-L44" TargetMode="External"/><Relationship Id="rId4" Type="http://schemas.openxmlformats.org/officeDocument/2006/relationships/hyperlink" Target="https://github.com/AI4Finance-Foundation/FinRL/blob/master/README.md#L68-L8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30A18"/>
                </a:solidFill>
              </a:rPr>
              <a:t>Evaluation of AI‑Driven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030A18"/>
                </a:solidFill>
              </a:rPr>
              <a:t>Quantitative Trading Frameworks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65760" y="34747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Comparing Qlib, FinRL, FinRobot, TradingAgents &amp; Alpha‑Agent</a:t>
            </a:r>
          </a:p>
        </p:txBody>
      </p:sp>
      <p:sp>
        <p:nvSpPr>
          <p:cNvPr id="4" name="Text 2"/>
          <p:cNvSpPr/>
          <p:nvPr/>
        </p:nvSpPr>
        <p:spPr>
          <a:xfrm>
            <a:off x="365760" y="40233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21 Sept 2025</a:t>
            </a:r>
          </a:p>
        </p:txBody>
      </p:sp>
      <p:pic>
        <p:nvPicPr>
          <p:cNvPr id="5" name="Image 0" descr="/home/oai/share/4580b230-e95f-45b4-a8f7-f207f323f5ae.png"/>
          <p:cNvPicPr>
            <a:picLocks noChangeAspect="1"/>
          </p:cNvPicPr>
          <p:nvPr/>
        </p:nvPicPr>
        <p:blipFill>
          <a:blip r:embed="rId3"/>
          <a:srcRect l="17544" r="17544"/>
          <a:stretch/>
        </p:blipFill>
        <p:spPr>
          <a:xfrm>
            <a:off x="5760720" y="731520"/>
            <a:ext cx="33832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760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spcAft>
                <a:spcPts val="360"/>
              </a:spcAft>
              <a:buSzPct val="100000"/>
              <a:buChar char="•"/>
            </a:pPr>
            <a:r>
              <a:rPr lang="en-US" sz="1600" b="1" dirty="0">
                <a:solidFill>
                  <a:srgbClr val="030A18"/>
                </a:solidFill>
              </a:rPr>
              <a:t>Project mission &amp; introduction</a:t>
            </a:r>
            <a:endParaRPr lang="en-US" sz="1600" dirty="0"/>
          </a:p>
          <a:p>
            <a:pPr marL="190500" indent="-190500">
              <a:spcAft>
                <a:spcPts val="360"/>
              </a:spcAft>
              <a:buSzPct val="100000"/>
              <a:buChar char="•"/>
            </a:pPr>
            <a:r>
              <a:rPr lang="en-US" sz="1600" b="1" dirty="0">
                <a:solidFill>
                  <a:srgbClr val="030A18"/>
                </a:solidFill>
              </a:rPr>
              <a:t>Evaluation criteria</a:t>
            </a:r>
            <a:endParaRPr lang="en-US" sz="1600" dirty="0"/>
          </a:p>
          <a:p>
            <a:pPr marL="190500" indent="-190500">
              <a:spcAft>
                <a:spcPts val="360"/>
              </a:spcAft>
              <a:buSzPct val="100000"/>
              <a:buChar char="•"/>
            </a:pPr>
            <a:r>
              <a:rPr lang="en-US" sz="1600" b="1" dirty="0">
                <a:solidFill>
                  <a:srgbClr val="030A18"/>
                </a:solidFill>
              </a:rPr>
              <a:t>Framework reviews (Qlib &amp; FinRL)</a:t>
            </a:r>
            <a:endParaRPr lang="en-US" sz="1600" dirty="0"/>
          </a:p>
          <a:p>
            <a:pPr marL="190500" indent="-190500">
              <a:spcAft>
                <a:spcPts val="360"/>
              </a:spcAft>
              <a:buSzPct val="100000"/>
              <a:buChar char="•"/>
            </a:pPr>
            <a:r>
              <a:rPr lang="en-US" sz="1600" b="1" dirty="0">
                <a:solidFill>
                  <a:srgbClr val="030A18"/>
                </a:solidFill>
              </a:rPr>
              <a:t>Framework reviews (FinRobot &amp; TradingAgents)</a:t>
            </a:r>
            <a:endParaRPr lang="en-US" sz="1600" dirty="0"/>
          </a:p>
          <a:p>
            <a:pPr marL="190500" indent="-190500">
              <a:spcAft>
                <a:spcPts val="360"/>
              </a:spcAft>
              <a:buSzPct val="100000"/>
              <a:buChar char="•"/>
            </a:pPr>
            <a:r>
              <a:rPr lang="en-US" sz="1600" b="1" dirty="0">
                <a:solidFill>
                  <a:srgbClr val="030A18"/>
                </a:solidFill>
              </a:rPr>
              <a:t>Alpha‑Agent &amp; comparison</a:t>
            </a:r>
            <a:endParaRPr lang="en-US" sz="1600" dirty="0"/>
          </a:p>
          <a:p>
            <a:pPr marL="190500" indent="-190500">
              <a:spcAft>
                <a:spcPts val="360"/>
              </a:spcAft>
              <a:buSzPct val="100000"/>
              <a:buChar char="•"/>
            </a:pPr>
            <a:r>
              <a:rPr lang="en-US" sz="1600" b="1" dirty="0">
                <a:solidFill>
                  <a:srgbClr val="030A18"/>
                </a:solidFill>
              </a:rPr>
              <a:t>Recommendations &amp; conclusion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89520" y="411480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Mission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5303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30A18"/>
                </a:solidFill>
              </a:rPr>
              <a:t>• AI is reshaping quantitative research and trading by automating factor discovery, portfolio simulation and strategy generation.
• Open‑source agent frameworks accelerate R&amp;D but vary greatly in scope, maturity and ease‑of‑use.
• Our mission: benchmark emerging AI‑agent platforms against our needs for research agility, backtesting accuracy, broker connectivity and advanced automation.</a:t>
            </a:r>
            <a:endParaRPr lang="en-US" sz="1600" dirty="0"/>
          </a:p>
        </p:txBody>
      </p:sp>
      <p:pic>
        <p:nvPicPr>
          <p:cNvPr id="4" name="Image 0" descr="/home/oai/share/4580b230-e95f-45b4-a8f7-f207f323f5ae.png"/>
          <p:cNvPicPr>
            <a:picLocks noChangeAspect="1"/>
          </p:cNvPicPr>
          <p:nvPr/>
        </p:nvPicPr>
        <p:blipFill>
          <a:blip r:embed="rId3"/>
          <a:srcRect l="16667" r="16667"/>
          <a:stretch/>
        </p:blipFill>
        <p:spPr>
          <a:xfrm>
            <a:off x="5852160" y="1188720"/>
            <a:ext cx="292608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97B1D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Criteria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18872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0A18"/>
                </a:solidFill>
              </a:rPr>
              <a:t>Ease‑of‑Use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77240" y="143560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30A18"/>
                </a:solidFill>
              </a:rPr>
              <a:t>Installation simplicity, tutorials and demos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" y="192024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7724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0A18"/>
                </a:solidFill>
              </a:rPr>
              <a:t>Research &amp; Feature Engineering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77240" y="216712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30A18"/>
                </a:solidFill>
              </a:rPr>
              <a:t>Factor creation, statistical testing, dataset integration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" y="265176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724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0A18"/>
                </a:solidFill>
              </a:rPr>
              <a:t>Backtesting &amp; Simulation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777240" y="289864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30A18"/>
                </a:solidFill>
              </a:rPr>
              <a:t>Robust portfolio simulation, transaction costs and metrics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200" y="338328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7724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0A18"/>
                </a:solidFill>
              </a:rPr>
              <a:t>Broker &amp; API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777240" y="363016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30A18"/>
                </a:solidFill>
              </a:rPr>
              <a:t>Integration with brokers or ability to extend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7200" y="4114800"/>
            <a:ext cx="274320" cy="2743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7724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0A18"/>
                </a:solidFill>
              </a:rPr>
              <a:t>AI Agents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777240" y="436168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30A18"/>
                </a:solidFill>
              </a:rPr>
              <a:t>RL, LLM, multi‑agent support</a:t>
            </a:r>
            <a:endParaRPr lang="en-US" sz="1000" dirty="0"/>
          </a:p>
        </p:txBody>
      </p:sp>
      <p:sp>
        <p:nvSpPr>
          <p:cNvPr id="18" name="Text 11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97B1DF"/>
                </a:solidFill>
                <a:hlinkClick r:id="rId11"/>
              </a:rPr>
              <a:t>[2]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Qlib: AI‑Oriented Quant Platform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5943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600" dirty="0">
                <a:solidFill>
                  <a:srgbClr val="030A18"/>
                </a:solidFill>
              </a:rPr>
              <a:t>• Modular architecture: loose‑coupled components for data, models and strategies
</a:t>
            </a:r>
            <a:endParaRPr lang="en-US" sz="1600" dirty="0"/>
          </a:p>
          <a:p>
            <a:pPr>
              <a:buSzPct val="100000"/>
            </a:pPr>
            <a:r>
              <a:rPr lang="en-US" sz="1600" dirty="0">
                <a:solidFill>
                  <a:srgbClr val="030A18"/>
                </a:solidFill>
              </a:rPr>
              <a:t>• Supports supervised learning &amp; reinforcement learning frameworks
</a:t>
            </a:r>
            <a:endParaRPr lang="en-US" sz="1600" dirty="0"/>
          </a:p>
          <a:p>
            <a:pPr>
              <a:buSzPct val="100000"/>
            </a:pPr>
            <a:r>
              <a:rPr lang="en-US" sz="1600" dirty="0">
                <a:solidFill>
                  <a:srgbClr val="030A18"/>
                </a:solidFill>
              </a:rPr>
              <a:t>• Robust </a:t>
            </a:r>
            <a:r>
              <a:rPr lang="en-US" sz="1600" dirty="0" err="1">
                <a:solidFill>
                  <a:srgbClr val="030A18"/>
                </a:solidFill>
              </a:rPr>
              <a:t>backtesting</a:t>
            </a:r>
            <a:r>
              <a:rPr lang="en-US" sz="1600" dirty="0">
                <a:solidFill>
                  <a:srgbClr val="030A18"/>
                </a:solidFill>
              </a:rPr>
              <a:t> with nested strategies, transaction cost &amp; slippage modelling
</a:t>
            </a:r>
            <a:endParaRPr lang="en-US" sz="1600" dirty="0"/>
          </a:p>
          <a:p>
            <a:pPr>
              <a:buSzPct val="100000"/>
            </a:pPr>
            <a:r>
              <a:rPr lang="en-US" sz="1600" dirty="0">
                <a:solidFill>
                  <a:srgbClr val="030A18"/>
                </a:solidFill>
              </a:rPr>
              <a:t>• Strong research utilities: factor engineering, point‑in‑time database &amp; diverse models
</a:t>
            </a:r>
            <a:endParaRPr lang="en-US" sz="1600" dirty="0"/>
          </a:p>
          <a:p>
            <a:pPr>
              <a:buSzPct val="100000"/>
            </a:pPr>
            <a:r>
              <a:rPr lang="en-US" sz="1600" dirty="0">
                <a:solidFill>
                  <a:srgbClr val="030A18"/>
                </a:solidFill>
              </a:rPr>
              <a:t>• Extensible to multi‑agent frameworks via RD‑Agent &amp; LLM integrations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97B1D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r>
              <a:rPr lang="en-US" sz="600" u="sng" dirty="0">
                <a:solidFill>
                  <a:srgbClr val="97B1D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  <a:r>
              <a:rPr lang="en-US" sz="600" u="sng" dirty="0">
                <a:solidFill>
                  <a:srgbClr val="97B1D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FinRL: Financial RL Ecosystem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5943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600" dirty="0">
                <a:solidFill>
                  <a:srgbClr val="030A18"/>
                </a:solidFill>
              </a:rPr>
              <a:t>• Three‑layer design: market environments, RL agents and applications
</a:t>
            </a:r>
            <a:endParaRPr lang="en-US" sz="1600" dirty="0"/>
          </a:p>
          <a:p>
            <a:pPr>
              <a:buSzPct val="100000"/>
            </a:pPr>
            <a:r>
              <a:rPr lang="en-US" sz="1600" dirty="0">
                <a:solidFill>
                  <a:srgbClr val="030A18"/>
                </a:solidFill>
              </a:rPr>
              <a:t>• Train–test–trade pipeline with abundant examples and notebooks
</a:t>
            </a:r>
            <a:endParaRPr lang="en-US" sz="1600" dirty="0"/>
          </a:p>
          <a:p>
            <a:pPr>
              <a:buSzPct val="100000"/>
            </a:pPr>
            <a:r>
              <a:rPr lang="en-US" sz="1600" dirty="0">
                <a:solidFill>
                  <a:srgbClr val="030A18"/>
                </a:solidFill>
              </a:rPr>
              <a:t>• Extensive data support: Alpaca, Binance, YahooFinance, WRDS and more
</a:t>
            </a:r>
            <a:endParaRPr lang="en-US" sz="1600" dirty="0"/>
          </a:p>
          <a:p>
            <a:pPr>
              <a:buSzPct val="100000"/>
            </a:pPr>
            <a:r>
              <a:rPr lang="en-US" sz="1600" dirty="0">
                <a:solidFill>
                  <a:srgbClr val="030A18"/>
                </a:solidFill>
              </a:rPr>
              <a:t>• Focus on RL agents (DQN, PPO, TD3, etc.) and benchmark environments
</a:t>
            </a:r>
            <a:endParaRPr lang="en-US" sz="1600" dirty="0"/>
          </a:p>
          <a:p>
            <a:pPr>
              <a:buSzPct val="100000"/>
            </a:pPr>
            <a:r>
              <a:rPr lang="en-US" sz="1600" dirty="0">
                <a:solidFill>
                  <a:srgbClr val="030A18"/>
                </a:solidFill>
              </a:rPr>
              <a:t>• Limited broker integration; best suited for research and prototyping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97B1DF"/>
                </a:solidFill>
                <a:hlinkClick r:id="rId3"/>
              </a:rPr>
              <a:t>[6]</a:t>
            </a:r>
            <a:r>
              <a:rPr lang="en-US" sz="600" u="sng" dirty="0">
                <a:solidFill>
                  <a:srgbClr val="97B1DF"/>
                </a:solidFill>
                <a:hlinkClick r:id="rId4"/>
              </a:rPr>
              <a:t>[7]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FinRobot: LLM Agent Platform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5943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600" dirty="0">
                <a:solidFill>
                  <a:srgbClr val="030A18"/>
                </a:solidFill>
              </a:rPr>
              <a:t>•</a:t>
            </a:r>
            <a:r>
              <a:rPr lang="en-US" sz="1200" dirty="0">
                <a:solidFill>
                  <a:srgbClr val="030A18"/>
                </a:solidFill>
              </a:rPr>
              <a:t> </a:t>
            </a:r>
            <a:r>
              <a:rPr lang="en-US" sz="1600" dirty="0">
                <a:solidFill>
                  <a:srgbClr val="030A18"/>
                </a:solidFill>
              </a:rPr>
              <a:t>Four‑layer architecture: Agents, Financial LLMs, LLMOps/DataOps, Foundation Models
</a:t>
            </a:r>
            <a:endParaRPr lang="en-US" sz="1600" dirty="0"/>
          </a:p>
          <a:p>
            <a:pPr>
              <a:buSzPct val="100000"/>
            </a:pPr>
            <a:r>
              <a:rPr lang="en-US" sz="1600" dirty="0">
                <a:solidFill>
                  <a:srgbClr val="030A18"/>
                </a:solidFill>
              </a:rPr>
              <a:t>• Perception → Brain → Action pipeline processes multimodal financial data
</a:t>
            </a:r>
            <a:endParaRPr lang="en-US" sz="1600" dirty="0"/>
          </a:p>
          <a:p>
            <a:pPr>
              <a:buSzPct val="100000"/>
            </a:pPr>
            <a:r>
              <a:rPr lang="en-US" sz="1600" dirty="0">
                <a:solidFill>
                  <a:srgbClr val="030A18"/>
                </a:solidFill>
              </a:rPr>
              <a:t>• Smart scheduler orchestrates multiple agents (director, registration, adaptor, task manager)
</a:t>
            </a:r>
            <a:endParaRPr lang="en-US" sz="1600" dirty="0"/>
          </a:p>
          <a:p>
            <a:pPr>
              <a:buSzPct val="100000"/>
            </a:pPr>
            <a:r>
              <a:rPr lang="en-US" sz="1600" dirty="0">
                <a:solidFill>
                  <a:srgbClr val="030A18"/>
                </a:solidFill>
              </a:rPr>
              <a:t>• Excellent for report generation, forecasting and analysis; lacks built‑in backtesting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97B1DF"/>
                </a:solidFill>
                <a:hlinkClick r:id="rId3"/>
              </a:rPr>
              <a:t>[8]</a:t>
            </a:r>
            <a:r>
              <a:rPr lang="en-US" sz="600" u="sng" dirty="0">
                <a:solidFill>
                  <a:srgbClr val="97B1DF"/>
                </a:solidFill>
                <a:hlinkClick r:id="rId4"/>
              </a:rPr>
              <a:t>[9]</a:t>
            </a:r>
            <a:r>
              <a:rPr lang="en-US" sz="600" u="sng" dirty="0">
                <a:solidFill>
                  <a:srgbClr val="97B1DF"/>
                </a:solidFill>
                <a:hlinkClick r:id="rId5"/>
              </a:rPr>
              <a:t>[10]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TradingAgents: Multi‑Agent LLM Trading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5943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600" dirty="0">
                <a:solidFill>
                  <a:srgbClr val="030A18"/>
                </a:solidFill>
              </a:rPr>
              <a:t>•</a:t>
            </a:r>
            <a:r>
              <a:rPr lang="en-US" sz="1200" dirty="0">
                <a:solidFill>
                  <a:srgbClr val="030A18"/>
                </a:solidFill>
              </a:rPr>
              <a:t> </a:t>
            </a:r>
            <a:r>
              <a:rPr lang="en-US" sz="1600" dirty="0">
                <a:solidFill>
                  <a:srgbClr val="030A18"/>
                </a:solidFill>
              </a:rPr>
              <a:t>Mirrors real trading firms with specialised analysts: fundamentals, sentiment, news, technical
</a:t>
            </a:r>
            <a:endParaRPr lang="en-US" sz="1600" dirty="0"/>
          </a:p>
          <a:p>
            <a:pPr>
              <a:buSzPct val="100000"/>
            </a:pPr>
            <a:r>
              <a:rPr lang="en-US" sz="1600" dirty="0">
                <a:solidFill>
                  <a:srgbClr val="030A18"/>
                </a:solidFill>
              </a:rPr>
              <a:t>• Researchers debate to balance bullish &amp; bearish views; trader agent synthesises reports
</a:t>
            </a:r>
            <a:endParaRPr lang="en-US" sz="1600" dirty="0"/>
          </a:p>
          <a:p>
            <a:pPr>
              <a:buSzPct val="100000"/>
            </a:pPr>
            <a:r>
              <a:rPr lang="en-US" sz="1600" dirty="0">
                <a:solidFill>
                  <a:srgbClr val="030A18"/>
                </a:solidFill>
              </a:rPr>
              <a:t>• Risk management &amp; portfolio manager evaluate and approve orders
</a:t>
            </a:r>
            <a:endParaRPr lang="en-US" sz="1600" dirty="0"/>
          </a:p>
          <a:p>
            <a:pPr>
              <a:buSzPct val="100000"/>
            </a:pPr>
            <a:r>
              <a:rPr lang="en-US" sz="1600" dirty="0">
                <a:solidFill>
                  <a:srgbClr val="030A18"/>
                </a:solidFill>
              </a:rPr>
              <a:t>• CLI and Python API; requires Finnhub &amp; OpenAI keys; uses simulated exchange</a:t>
            </a:r>
            <a:endParaRPr lang="en-US" sz="1600" dirty="0"/>
          </a:p>
          <a:p>
            <a:pPr>
              <a:buSzPct val="100000"/>
            </a:pPr>
            <a:r>
              <a:rPr lang="en-US" sz="1600" dirty="0">
                <a:solidFill>
                  <a:srgbClr val="030A18"/>
                </a:solidFill>
              </a:rPr>
              <a:t>• Research demonstrator rather than production tool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97B1DF"/>
                </a:solidFill>
                <a:hlinkClick r:id="rId3"/>
              </a:rPr>
              <a:t>[11]</a:t>
            </a:r>
            <a:r>
              <a:rPr lang="en-US" sz="600" u="sng" dirty="0">
                <a:solidFill>
                  <a:srgbClr val="97B1DF"/>
                </a:solidFill>
                <a:hlinkClick r:id="rId4"/>
              </a:rPr>
              <a:t>[12]</a:t>
            </a:r>
            <a:r>
              <a:rPr lang="en-US" sz="600" u="sng" dirty="0">
                <a:solidFill>
                  <a:srgbClr val="97B1DF"/>
                </a:solidFill>
                <a:hlinkClick r:id="rId5"/>
              </a:rPr>
              <a:t>[13]</a:t>
            </a:r>
            <a:r>
              <a:rPr lang="en-US" sz="600" u="sng" dirty="0">
                <a:solidFill>
                  <a:srgbClr val="97B1DF"/>
                </a:solidFill>
                <a:hlinkClick r:id="rId6"/>
              </a:rPr>
              <a:t>[14]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Alpha‑Agent: Automated Alpha Research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5943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600" dirty="0">
                <a:solidFill>
                  <a:srgbClr val="030A18"/>
                </a:solidFill>
              </a:rPr>
              <a:t>•</a:t>
            </a:r>
            <a:r>
              <a:rPr lang="en-US" sz="1200" dirty="0">
                <a:solidFill>
                  <a:srgbClr val="030A18"/>
                </a:solidFill>
              </a:rPr>
              <a:t> </a:t>
            </a:r>
            <a:r>
              <a:rPr lang="en-US" sz="1600" dirty="0">
                <a:solidFill>
                  <a:srgbClr val="030A18"/>
                </a:solidFill>
              </a:rPr>
              <a:t>Industrial‑grade multi‑agent framework for alpha discovery &amp; deployment
</a:t>
            </a:r>
            <a:endParaRPr lang="en-US" sz="1600" dirty="0"/>
          </a:p>
          <a:p>
            <a:pPr>
              <a:buSzPct val="100000"/>
            </a:pPr>
            <a:r>
              <a:rPr lang="en-US" sz="1600" dirty="0">
                <a:solidFill>
                  <a:srgbClr val="030A18"/>
                </a:solidFill>
              </a:rPr>
              <a:t>• Continuous mining of factor ideas from research reports (quant‑wiki)
</a:t>
            </a:r>
            <a:endParaRPr lang="en-US" sz="1600" dirty="0"/>
          </a:p>
          <a:p>
            <a:pPr>
              <a:buSzPct val="100000"/>
            </a:pPr>
            <a:r>
              <a:rPr lang="en-US" sz="1600" dirty="0">
                <a:solidFill>
                  <a:srgbClr val="030A18"/>
                </a:solidFill>
              </a:rPr>
              <a:t>• Market regime detection via MarketPulse; contextual retrieval of relevant strategies
</a:t>
            </a:r>
            <a:endParaRPr lang="en-US" sz="1600" dirty="0"/>
          </a:p>
          <a:p>
            <a:pPr>
              <a:buSzPct val="100000"/>
            </a:pPr>
            <a:r>
              <a:rPr lang="en-US" sz="1600" dirty="0">
                <a:solidFill>
                  <a:srgbClr val="030A18"/>
                </a:solidFill>
              </a:rPr>
              <a:t>• Code synthesis and error correction; live backtesting built on Qlib
</a:t>
            </a:r>
            <a:endParaRPr lang="en-US" sz="1600" dirty="0"/>
          </a:p>
          <a:p>
            <a:pPr>
              <a:buSzPct val="100000"/>
            </a:pPr>
            <a:r>
              <a:rPr lang="en-US" sz="1600" dirty="0">
                <a:solidFill>
                  <a:srgbClr val="030A18"/>
                </a:solidFill>
              </a:rPr>
              <a:t>• Generates comprehensive research reports; project under active development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97B1DF"/>
                </a:solidFill>
                <a:hlinkClick r:id="rId3"/>
              </a:rPr>
              <a:t>[15]</a:t>
            </a:r>
            <a:r>
              <a:rPr lang="en-US" sz="600" u="sng" dirty="0">
                <a:solidFill>
                  <a:srgbClr val="97B1DF"/>
                </a:solidFill>
                <a:hlinkClick r:id="rId4"/>
              </a:rPr>
              <a:t>[16]</a:t>
            </a:r>
            <a:r>
              <a:rPr lang="en-US" sz="600" u="sng" dirty="0">
                <a:solidFill>
                  <a:srgbClr val="97B1DF"/>
                </a:solidFill>
                <a:hlinkClick r:id="rId5"/>
              </a:rPr>
              <a:t>[17]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Framework Evaluation</a:t>
            </a:r>
            <a:endParaRPr lang="en-US" sz="2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280160"/>
          <a:ext cx="7772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97B1D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[18]</a:t>
            </a:r>
            <a:r>
              <a:rPr lang="en-US" sz="600" u="sng" dirty="0">
                <a:solidFill>
                  <a:srgbClr val="97B1DF"/>
                </a:solidFill>
                <a:hlinkClick r:id="rId5"/>
              </a:rPr>
              <a:t>[19]</a:t>
            </a:r>
            <a:r>
              <a:rPr lang="en-US" sz="600" u="sng" dirty="0">
                <a:solidFill>
                  <a:srgbClr val="97B1DF"/>
                </a:solidFill>
                <a:hlinkClick r:id="rId6"/>
              </a:rPr>
              <a:t>[20]</a:t>
            </a:r>
            <a:r>
              <a:rPr lang="en-US" sz="600" u="sng" dirty="0">
                <a:solidFill>
                  <a:srgbClr val="97B1DF"/>
                </a:solidFill>
                <a:hlinkClick r:id="rId7"/>
              </a:rPr>
              <a:t>[21]</a:t>
            </a:r>
            <a:r>
              <a:rPr lang="en-US" sz="600" u="sng" dirty="0">
                <a:solidFill>
                  <a:srgbClr val="97B1DF"/>
                </a:solidFill>
                <a:hlinkClick r:id="rId8"/>
              </a:rPr>
              <a:t>[22]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&amp; Conclusion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5943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600" dirty="0">
                <a:solidFill>
                  <a:srgbClr val="030A18"/>
                </a:solidFill>
              </a:rPr>
              <a:t>•</a:t>
            </a:r>
            <a:r>
              <a:rPr lang="en-US" sz="1200" dirty="0">
                <a:solidFill>
                  <a:srgbClr val="030A18"/>
                </a:solidFill>
              </a:rPr>
              <a:t> </a:t>
            </a:r>
            <a:r>
              <a:rPr lang="en-US" sz="1600" dirty="0">
                <a:solidFill>
                  <a:srgbClr val="030A18"/>
                </a:solidFill>
              </a:rPr>
              <a:t>Adopt Qlib as the core research and backtesting infrastructure
</a:t>
            </a:r>
            <a:endParaRPr lang="en-US" sz="1600" dirty="0"/>
          </a:p>
          <a:p>
            <a:pPr>
              <a:buSzPct val="100000"/>
            </a:pPr>
            <a:r>
              <a:rPr lang="en-US" sz="1600" dirty="0">
                <a:solidFill>
                  <a:srgbClr val="030A18"/>
                </a:solidFill>
              </a:rPr>
              <a:t>• Use FinRL for reinforcement‑learning prototyping and data diversity
</a:t>
            </a:r>
            <a:endParaRPr lang="en-US" sz="1600" dirty="0"/>
          </a:p>
          <a:p>
            <a:pPr>
              <a:buSzPct val="100000"/>
            </a:pPr>
            <a:r>
              <a:rPr lang="en-US" sz="1600" dirty="0">
                <a:solidFill>
                  <a:srgbClr val="030A18"/>
                </a:solidFill>
              </a:rPr>
              <a:t>• Monitor FinRobot &amp; Alpha‑Agent for automated research capabilities
</a:t>
            </a:r>
            <a:endParaRPr lang="en-US" sz="1600" dirty="0"/>
          </a:p>
          <a:p>
            <a:pPr>
              <a:buSzPct val="100000"/>
            </a:pPr>
            <a:r>
              <a:rPr lang="en-US" sz="1600" dirty="0">
                <a:solidFill>
                  <a:srgbClr val="030A18"/>
                </a:solidFill>
              </a:rPr>
              <a:t>• Treat TradingAgents as a research demonstrator and source of design ideas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7B1DF"/>
                </a:solidFill>
              </a:rPr>
              <a:t>By combining robust backtesting with AI‑driven automation, we can build a next‑generation quantitative research platform.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97B1D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[23]</a:t>
            </a:r>
            <a:r>
              <a:rPr lang="en-US" sz="600" u="sng" dirty="0">
                <a:solidFill>
                  <a:srgbClr val="97B1DF"/>
                </a:solidFill>
                <a:hlinkClick r:id="rId4"/>
              </a:rPr>
              <a:t>[24]</a:t>
            </a:r>
            <a:r>
              <a:rPr lang="en-US" sz="600" u="sng" dirty="0">
                <a:solidFill>
                  <a:srgbClr val="97B1DF"/>
                </a:solidFill>
                <a:hlinkClick r:id="rId5"/>
              </a:rPr>
              <a:t>[25]</a:t>
            </a:r>
            <a:r>
              <a:rPr lang="en-US" sz="600" u="sng" dirty="0">
                <a:solidFill>
                  <a:srgbClr val="97B1DF"/>
                </a:solidFill>
                <a:hlinkClick r:id="rId6"/>
              </a:rPr>
              <a:t>[26]</a:t>
            </a:r>
            <a:r>
              <a:rPr lang="en-US" sz="600" u="sng" dirty="0">
                <a:solidFill>
                  <a:srgbClr val="97B1DF"/>
                </a:solidFill>
                <a:hlinkClick r:id="rId7"/>
              </a:rPr>
              <a:t>[27]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895</TotalTime>
  <Words>697</Words>
  <Application>Microsoft Office PowerPoint</Application>
  <PresentationFormat>全屏显示(16:9)</PresentationFormat>
  <Paragraphs>83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Yibo Sun</cp:lastModifiedBy>
  <cp:revision>3</cp:revision>
  <dcterms:created xsi:type="dcterms:W3CDTF">2025-09-21T06:08:55Z</dcterms:created>
  <dcterms:modified xsi:type="dcterms:W3CDTF">2025-09-22T13:53:41Z</dcterms:modified>
</cp:coreProperties>
</file>